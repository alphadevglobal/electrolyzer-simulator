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Projeto IA AV3</a:t>
            </a:r>
          </a:p>
          <a:p>
            <a:r>
              <a:t>Classificação de Energia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Inteligência Artificial Computacional</a:t>
            </a:r>
          </a:p>
          <a:p>
            <a:r>
              <a:t>Prof. Ms. Cynthia Moreira Maia</a:t>
            </a:r>
          </a:p>
          <a:p>
            <a:r>
              <a:t>Mateus Gomes Macário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1. Introdução e Objetivo</a:t>
            </a:r>
          </a:p>
          <a:p>
            <a:pPr>
              <a:spcBef>
                <a:spcPts val="1000"/>
              </a:spcBef>
              <a:defRPr sz="2000"/>
            </a:pPr>
            <a:r>
              <a:t>2. Dataset Escolhido</a:t>
            </a:r>
          </a:p>
          <a:p>
            <a:pPr>
              <a:spcBef>
                <a:spcPts val="1000"/>
              </a:spcBef>
              <a:defRPr sz="2000"/>
            </a:pPr>
            <a:r>
              <a:t>3. Algoritmos Implementados</a:t>
            </a:r>
          </a:p>
          <a:p>
            <a:pPr>
              <a:spcBef>
                <a:spcPts val="1000"/>
              </a:spcBef>
              <a:defRPr sz="2000"/>
            </a:pPr>
            <a:r>
              <a:t>4. Metodologia e Validação</a:t>
            </a:r>
          </a:p>
          <a:p>
            <a:pPr>
              <a:spcBef>
                <a:spcPts val="1000"/>
              </a:spcBef>
              <a:defRPr sz="2000"/>
            </a:pPr>
            <a:r>
              <a:t>5. Resultados Obtidos</a:t>
            </a:r>
          </a:p>
          <a:p>
            <a:pPr>
              <a:spcBef>
                <a:spcPts val="1000"/>
              </a:spcBef>
              <a:defRPr sz="2000"/>
            </a:pPr>
            <a:r>
              <a:t>6. Análise Comparativa</a:t>
            </a:r>
          </a:p>
          <a:p>
            <a:pPr>
              <a:spcBef>
                <a:spcPts val="1000"/>
              </a:spcBef>
              <a:defRPr sz="2000"/>
            </a:pPr>
            <a:r>
              <a:t>7. Conclusões</a:t>
            </a:r>
          </a:p>
          <a:p>
            <a:pPr>
              <a:spcBef>
                <a:spcPts val="1000"/>
              </a:spcBef>
              <a:defRPr sz="2000"/>
            </a:pPr>
            <a:r>
              <a:t>8. Demonstração Prática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🎯 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Objetivo: Avaliar algoritmos de classificação</a:t>
            </a:r>
          </a:p>
          <a:p>
            <a:pPr>
              <a:spcBef>
                <a:spcPts val="1000"/>
              </a:spcBef>
              <a:defRPr sz="2000"/>
            </a:pPr>
            <a:r>
              <a:t>Desafio: Implementação 100% MANUAL</a:t>
            </a:r>
          </a:p>
          <a:p>
            <a:pPr>
              <a:spcBef>
                <a:spcPts val="1000"/>
              </a:spcBef>
              <a:defRPr sz="2000"/>
            </a:pPr>
            <a:r>
              <a:t>❌ SEM pandas</a:t>
            </a:r>
          </a:p>
          <a:p>
            <a:pPr>
              <a:spcBef>
                <a:spcPts val="1000"/>
              </a:spcBef>
              <a:defRPr sz="2000"/>
            </a:pPr>
            <a:r>
              <a:t>❌ SEM scikit-learn</a:t>
            </a:r>
          </a:p>
          <a:p>
            <a:pPr>
              <a:spcBef>
                <a:spcPts val="1000"/>
              </a:spcBef>
              <a:defRPr sz="2000"/>
            </a:pPr>
            <a:r>
              <a:t>✅ Tudo do ZERO!</a:t>
            </a:r>
          </a:p>
          <a:p>
            <a:pPr>
              <a:spcBef>
                <a:spcPts val="1000"/>
              </a:spcBef>
              <a:defRPr sz="2000"/>
            </a:pPr>
            <a:r>
              <a:t>Problema: Classificação de consumo de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📊 Dataset: Appliances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Fonte: OpenML (ID: 46283)</a:t>
            </a:r>
          </a:p>
          <a:p>
            <a:pPr>
              <a:spcBef>
                <a:spcPts val="1000"/>
              </a:spcBef>
              <a:defRPr sz="2000"/>
            </a:pPr>
            <a:r>
              <a:t>📈 Instâncias: 5,000 amostras</a:t>
            </a:r>
          </a:p>
          <a:p>
            <a:pPr>
              <a:spcBef>
                <a:spcPts val="1000"/>
              </a:spcBef>
              <a:defRPr sz="2000"/>
            </a:pPr>
            <a:r>
              <a:t>🔢 Features: 28 atributos</a:t>
            </a:r>
          </a:p>
          <a:p>
            <a:pPr>
              <a:spcBef>
                <a:spcPts val="1000"/>
              </a:spcBef>
              <a:defRPr sz="2000"/>
            </a:pPr>
            <a:r>
              <a:t>🎯 Target: Consumo de energia (binarizado)</a:t>
            </a:r>
          </a:p>
          <a:p>
            <a:pPr>
              <a:spcBef>
                <a:spcPts val="1000"/>
              </a:spcBef>
              <a:defRPr sz="2000"/>
            </a:pPr>
            <a:r>
              <a:t>✅ Atende TODOS os requisitos (&gt;10 atributos, &gt;1000 instâncias)</a:t>
            </a:r>
          </a:p>
          <a:p>
            <a:pPr>
              <a:spcBef>
                <a:spcPts val="1000"/>
              </a:spcBef>
              <a:defRPr sz="2000"/>
            </a:pPr>
            <a:r>
              <a:t>🔗 Alinhado com pesquisa em eficiência energética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⚖️ Distribuição dos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Classes Balanceadas:</a:t>
            </a:r>
          </a:p>
          <a:p>
            <a:pPr>
              <a:spcBef>
                <a:spcPts val="1000"/>
              </a:spcBef>
              <a:defRPr sz="2000"/>
            </a:pPr>
            <a:r>
              <a:t>   • Classe 0 (Baixo consumo): 2,500 amostras (50%)</a:t>
            </a:r>
          </a:p>
          <a:p>
            <a:pPr>
              <a:spcBef>
                <a:spcPts val="1000"/>
              </a:spcBef>
              <a:defRPr sz="2000"/>
            </a:pPr>
            <a:r>
              <a:t>   • Classe 1 (Alto consumo): 2,500 amostras (50%)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Pré-processamento aplicado:</a:t>
            </a:r>
          </a:p>
          <a:p>
            <a:pPr>
              <a:spcBef>
                <a:spcPts val="1000"/>
              </a:spcBef>
              <a:defRPr sz="2000"/>
            </a:pPr>
            <a:r>
              <a:t>   • Normalização Z-Score (implementada manualmente)</a:t>
            </a:r>
          </a:p>
          <a:p>
            <a:pPr>
              <a:spcBef>
                <a:spcPts val="1000"/>
              </a:spcBef>
              <a:defRPr sz="2000"/>
            </a:pPr>
            <a:r>
              <a:t>   • Binarização pela mediana</a:t>
            </a:r>
          </a:p>
          <a:p>
            <a:pPr>
              <a:spcBef>
                <a:spcPts val="1000"/>
              </a:spcBef>
              <a:defRPr sz="2000"/>
            </a:pPr>
            <a:r>
              <a:t>   • Divisão estratificada K-Folds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🔍 Algoritmo 1: 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Implementação Manual:</a:t>
            </a:r>
          </a:p>
          <a:p>
            <a:pPr>
              <a:spcBef>
                <a:spcPts val="1000"/>
              </a:spcBef>
              <a:defRPr sz="2000"/>
            </a:pPr>
            <a:r>
              <a:t>   • Distância Euclidiana: √Σ(x₁-x₂)²</a:t>
            </a:r>
          </a:p>
          <a:p>
            <a:pPr>
              <a:spcBef>
                <a:spcPts val="1000"/>
              </a:spcBef>
              <a:defRPr sz="2000"/>
            </a:pPr>
            <a:r>
              <a:t>   • Distância Manhattan: Σ|x₁-x₂|</a:t>
            </a:r>
          </a:p>
          <a:p>
            <a:pPr>
              <a:spcBef>
                <a:spcPts val="1000"/>
              </a:spcBef>
              <a:defRPr sz="2000"/>
            </a:pPr>
            <a:r>
              <a:t>   • k = 5 vizinhos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Características:</a:t>
            </a:r>
          </a:p>
          <a:p>
            <a:pPr>
              <a:spcBef>
                <a:spcPts val="1000"/>
              </a:spcBef>
              <a:defRPr sz="2000"/>
            </a:pPr>
            <a:r>
              <a:t>   • Lazy learning (sem treino)</a:t>
            </a:r>
          </a:p>
          <a:p>
            <a:pPr>
              <a:spcBef>
                <a:spcPts val="1000"/>
              </a:spcBef>
              <a:defRPr sz="2000"/>
            </a:pPr>
            <a:r>
              <a:t>   • Busca exaustiva</a:t>
            </a:r>
          </a:p>
          <a:p>
            <a:pPr>
              <a:spcBef>
                <a:spcPts val="1000"/>
              </a:spcBef>
              <a:defRPr sz="2000"/>
            </a:pPr>
            <a:r>
              <a:t>   • Votação majoritária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🧠 Algoritmo 2: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Implementação Manual:</a:t>
            </a:r>
          </a:p>
          <a:p>
            <a:pPr>
              <a:spcBef>
                <a:spcPts val="1000"/>
              </a:spcBef>
              <a:defRPr sz="2000"/>
            </a:pPr>
            <a:r>
              <a:t>   • Taxa de aprendizado: 0.01</a:t>
            </a:r>
          </a:p>
          <a:p>
            <a:pPr>
              <a:spcBef>
                <a:spcPts val="1000"/>
              </a:spcBef>
              <a:defRPr sz="2000"/>
            </a:pPr>
            <a:r>
              <a:t>   • Épocas: 50</a:t>
            </a:r>
          </a:p>
          <a:p>
            <a:pPr>
              <a:spcBef>
                <a:spcPts val="1000"/>
              </a:spcBef>
              <a:defRPr sz="2000"/>
            </a:pPr>
            <a:r>
              <a:t>   • Estratégia: One-vs-Rest para multiclasse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Regra de Atualização:</a:t>
            </a:r>
          </a:p>
          <a:p>
            <a:pPr>
              <a:spcBef>
                <a:spcPts val="1000"/>
              </a:spcBef>
              <a:defRPr sz="2000"/>
            </a:pPr>
            <a:r>
              <a:t>   • w = w + η × erro × x</a:t>
            </a:r>
          </a:p>
          <a:p>
            <a:pPr>
              <a:spcBef>
                <a:spcPts val="1000"/>
              </a:spcBef>
              <a:defRPr sz="2000"/>
            </a:pPr>
            <a:r>
              <a:t>   • b = b + η × erro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Função de Ativação: Degrau (step)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🚀 Algoritmo 3: Multi-Layer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Arquitetura da Rede:</a:t>
            </a:r>
          </a:p>
          <a:p>
            <a:pPr>
              <a:spcBef>
                <a:spcPts val="1000"/>
              </a:spcBef>
              <a:defRPr sz="2000"/>
            </a:pPr>
            <a:r>
              <a:t>   • Input: 28 neurônios</a:t>
            </a:r>
          </a:p>
          <a:p>
            <a:pPr>
              <a:spcBef>
                <a:spcPts val="1000"/>
              </a:spcBef>
              <a:defRPr sz="2000"/>
            </a:pPr>
            <a:r>
              <a:t>   • Hidden 1: 32 neurônios (ReLU)</a:t>
            </a:r>
          </a:p>
          <a:p>
            <a:pPr>
              <a:spcBef>
                <a:spcPts val="1000"/>
              </a:spcBef>
              <a:defRPr sz="2000"/>
            </a:pPr>
            <a:r>
              <a:t>   • Hidden 2: 16 neurônios (ReLU)</a:t>
            </a:r>
          </a:p>
          <a:p>
            <a:pPr>
              <a:spcBef>
                <a:spcPts val="1000"/>
              </a:spcBef>
              <a:defRPr sz="2000"/>
            </a:pPr>
            <a:r>
              <a:t>   • Output: 2 neurônios (Softmax)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Treinamento:</a:t>
            </a:r>
          </a:p>
          <a:p>
            <a:pPr>
              <a:spcBef>
                <a:spcPts val="1000"/>
              </a:spcBef>
              <a:defRPr sz="2000"/>
            </a:pPr>
            <a:r>
              <a:t>   • BACKPROPAGATION implementado manualmente!</a:t>
            </a:r>
          </a:p>
          <a:p>
            <a:pPr>
              <a:spcBef>
                <a:spcPts val="1000"/>
              </a:spcBef>
              <a:defRPr sz="2000"/>
            </a:pPr>
            <a:r>
              <a:t>   • Mini-batch Gradient Descent (batch=64)</a:t>
            </a:r>
          </a:p>
          <a:p>
            <a:pPr>
              <a:spcBef>
                <a:spcPts val="1000"/>
              </a:spcBef>
              <a:defRPr sz="2000"/>
            </a:pPr>
            <a:r>
              <a:t>   • Learning rate: 0.01, Epochs: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📊 Algoritmo 4: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Duas Implementações: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1️⃣ Versão Univariada:</a:t>
            </a:r>
          </a:p>
          <a:p>
            <a:pPr>
              <a:spcBef>
                <a:spcPts val="1000"/>
              </a:spcBef>
              <a:defRPr sz="2000"/>
            </a:pPr>
            <a:r>
              <a:t>   • Assume independência entre features</a:t>
            </a:r>
          </a:p>
          <a:p>
            <a:pPr>
              <a:spcBef>
                <a:spcPts val="1000"/>
              </a:spcBef>
              <a:defRPr sz="2000"/>
            </a:pPr>
            <a:r>
              <a:t>   • Mais rápida e simples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2️⃣ Versão Multivariada:</a:t>
            </a:r>
          </a:p>
          <a:p>
            <a:pPr>
              <a:spcBef>
                <a:spcPts val="1000"/>
              </a:spcBef>
              <a:defRPr sz="2000"/>
            </a:pPr>
            <a:r>
              <a:t>   • Considera correlação entre features</a:t>
            </a:r>
          </a:p>
          <a:p>
            <a:pPr>
              <a:spcBef>
                <a:spcPts val="1000"/>
              </a:spcBef>
              <a:defRPr sz="2000"/>
            </a:pPr>
            <a:r>
              <a:t>   • Distribuição Gaussiana multivariada</a:t>
            </a:r>
          </a:p>
          <a:p>
            <a:pPr>
              <a:spcBef>
                <a:spcPts val="1000"/>
              </a:spcBef>
              <a:defRPr sz="2000"/>
            </a:pPr>
            <a:r>
              <a:t>   • PDF implementada manualmente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🔄 Validação Cruzada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K-Fold Cross-Validation (k=5)</a:t>
            </a:r>
          </a:p>
          <a:p>
            <a:pPr>
              <a:spcBef>
                <a:spcPts val="1000"/>
              </a:spcBef>
              <a:defRPr sz="2000"/>
            </a:pPr>
            <a:r>
              <a:t>✅ Implementação 100% MANUAL!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Processo:</a:t>
            </a:r>
          </a:p>
          <a:p>
            <a:pPr>
              <a:spcBef>
                <a:spcPts val="1000"/>
              </a:spcBef>
              <a:defRPr sz="2000"/>
            </a:pPr>
            <a:r>
              <a:t>   1. Divide dados em 5 partes (folds)</a:t>
            </a:r>
          </a:p>
          <a:p>
            <a:pPr>
              <a:spcBef>
                <a:spcPts val="1000"/>
              </a:spcBef>
              <a:defRPr sz="2000"/>
            </a:pPr>
            <a:r>
              <a:t>   2. Para cada fold:</a:t>
            </a:r>
          </a:p>
          <a:p>
            <a:pPr>
              <a:spcBef>
                <a:spcPts val="1000"/>
              </a:spcBef>
              <a:defRPr sz="2000"/>
            </a:pPr>
            <a:r>
              <a:t>      • Treina com 4 folds</a:t>
            </a:r>
          </a:p>
          <a:p>
            <a:pPr>
              <a:spcBef>
                <a:spcPts val="1000"/>
              </a:spcBef>
              <a:defRPr sz="2000"/>
            </a:pPr>
            <a:r>
              <a:t>      • Testa com 1 fold</a:t>
            </a:r>
          </a:p>
          <a:p>
            <a:pPr>
              <a:spcBef>
                <a:spcPts val="1000"/>
              </a:spcBef>
              <a:defRPr sz="2000"/>
            </a:pPr>
            <a:r>
              <a:t>   3. Calcula média e desvio padrão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Estratificação: Mantém proporção das classes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📏 Métricas de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Todas implementadas MANUALMENTE: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1️⃣ Acurácia (Accuracy)</a:t>
            </a:r>
          </a:p>
          <a:p>
            <a:pPr>
              <a:spcBef>
                <a:spcPts val="1000"/>
              </a:spcBef>
              <a:defRPr sz="2000"/>
            </a:pPr>
            <a:r>
              <a:t>   • Porcentagem de acertos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2️⃣ Precisão (Precision)</a:t>
            </a:r>
          </a:p>
          <a:p>
            <a:pPr>
              <a:spcBef>
                <a:spcPts val="1000"/>
              </a:spcBef>
              <a:defRPr sz="2000"/>
            </a:pPr>
            <a:r>
              <a:t>   • TP / (TP + FP)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3️⃣ F1-Score</a:t>
            </a:r>
          </a:p>
          <a:p>
            <a:pPr>
              <a:spcBef>
                <a:spcPts val="1000"/>
              </a:spcBef>
              <a:defRPr sz="2000"/>
            </a:pPr>
            <a:r>
              <a:t>   • 2 × (Precision × Recall) / (Precision + Recall)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⏱️ Tempo de Treino e Teste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🏆 Resultados Completos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Classificador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Acurácia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Tempo (s)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 (Euclidiana)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13.09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 (Manhattan)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10.19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Perceptron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0.37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MLP 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NB (Univariado)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0.12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NB (Multivariado)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📊 Análise por Desempenho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Ranking de Acurácia: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🥇 MLP: 92.52% ⭐</a:t>
            </a:r>
          </a:p>
          <a:p>
            <a:pPr>
              <a:spcBef>
                <a:spcPts val="1000"/>
              </a:spcBef>
              <a:defRPr sz="2000"/>
            </a:pPr>
            <a:r>
              <a:t>🥈 Naive Bayes (Multivariado): 91.62%</a:t>
            </a:r>
          </a:p>
          <a:p>
            <a:pPr>
              <a:spcBef>
                <a:spcPts val="1000"/>
              </a:spcBef>
              <a:defRPr sz="2000"/>
            </a:pPr>
            <a:r>
              <a:t>🥉 Naive Bayes (Univariado): 90.90%</a:t>
            </a:r>
          </a:p>
          <a:p>
            <a:pPr>
              <a:spcBef>
                <a:spcPts val="1000"/>
              </a:spcBef>
              <a:defRPr sz="2000"/>
            </a:pPr>
            <a:r>
              <a:t>4️⃣ KNN (Manhattan): 80.88%</a:t>
            </a:r>
          </a:p>
          <a:p>
            <a:pPr>
              <a:spcBef>
                <a:spcPts val="1000"/>
              </a:spcBef>
              <a:defRPr sz="2000"/>
            </a:pPr>
            <a:r>
              <a:t>5️⃣ KNN (Euclidiana): 80.04%</a:t>
            </a:r>
          </a:p>
          <a:p>
            <a:pPr>
              <a:spcBef>
                <a:spcPts val="1000"/>
              </a:spcBef>
              <a:defRPr sz="2000"/>
            </a:pPr>
            <a:r>
              <a:t>6️⃣ Perceptron: 77.08%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⚖️ Trade-off: Desempenho vs Eficiência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Score de Eficiência = Acurácia / Tempo Total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🥇 Naive Bayes (Multivariado): 14.08</a:t>
            </a:r>
          </a:p>
          <a:p>
            <a:pPr>
              <a:spcBef>
                <a:spcPts val="1000"/>
              </a:spcBef>
              <a:defRPr sz="2000"/>
            </a:pPr>
            <a:r>
              <a:t>🥈 Naive Bayes (Univariado): 7.07</a:t>
            </a:r>
          </a:p>
          <a:p>
            <a:pPr>
              <a:spcBef>
                <a:spcPts val="1000"/>
              </a:spcBef>
              <a:defRPr sz="2000"/>
            </a:pPr>
            <a:r>
              <a:t>🥉 MLP: 3.97</a:t>
            </a:r>
          </a:p>
          <a:p>
            <a:pPr>
              <a:spcBef>
                <a:spcPts val="1000"/>
              </a:spcBef>
              <a:defRPr sz="2000"/>
            </a:pPr>
            <a:r>
              <a:t>4️⃣ Perceptron: 2.05</a:t>
            </a:r>
          </a:p>
          <a:p>
            <a:pPr>
              <a:spcBef>
                <a:spcPts val="1000"/>
              </a:spcBef>
              <a:defRPr sz="2000"/>
            </a:pPr>
            <a:r>
              <a:t>5️⃣ KNN (Manhattan): 0.08</a:t>
            </a:r>
          </a:p>
          <a:p>
            <a:pPr>
              <a:spcBef>
                <a:spcPts val="1000"/>
              </a:spcBef>
              <a:defRPr sz="2000"/>
            </a:pPr>
            <a:r>
              <a:t>6️⃣ KNN (Euclidiana): 0.06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💡 NB Multivariado: Melhor custo-benefício!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💪 Pontos Fortes e 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MLP:</a:t>
            </a:r>
          </a:p>
          <a:p>
            <a:pPr>
              <a:spcBef>
                <a:spcPts val="1000"/>
              </a:spcBef>
              <a:defRPr sz="2000"/>
            </a:pPr>
            <a:r>
              <a:t>   ✅ Melhor acurácia (92.52%)</a:t>
            </a:r>
          </a:p>
          <a:p>
            <a:pPr>
              <a:spcBef>
                <a:spcPts val="1000"/>
              </a:spcBef>
              <a:defRPr sz="2000"/>
            </a:pPr>
            <a:r>
              <a:t>   ✅ Captura relações não-lineares</a:t>
            </a:r>
          </a:p>
          <a:p>
            <a:pPr>
              <a:spcBef>
                <a:spcPts val="1000"/>
              </a:spcBef>
              <a:defRPr sz="2000"/>
            </a:pPr>
            <a:r>
              <a:t>   ❌ Difícil de interpretar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Naive Bayes:</a:t>
            </a:r>
          </a:p>
          <a:p>
            <a:pPr>
              <a:spcBef>
                <a:spcPts val="1000"/>
              </a:spcBef>
              <a:defRPr sz="2000"/>
            </a:pPr>
            <a:r>
              <a:t>   ✅ Extremamente rápido</a:t>
            </a:r>
          </a:p>
          <a:p>
            <a:pPr>
              <a:spcBef>
                <a:spcPts val="1000"/>
              </a:spcBef>
              <a:defRPr sz="2000"/>
            </a:pPr>
            <a:r>
              <a:t>   ✅ Alta acurácia (&gt;90%)</a:t>
            </a:r>
          </a:p>
          <a:p>
            <a:pPr>
              <a:spcBef>
                <a:spcPts val="1000"/>
              </a:spcBef>
              <a:defRPr sz="2000"/>
            </a:pPr>
            <a:r>
              <a:t>   ❌ Assume independência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KNN:</a:t>
            </a:r>
          </a:p>
          <a:p>
            <a:pPr>
              <a:spcBef>
                <a:spcPts val="1000"/>
              </a:spcBef>
              <a:defRPr sz="2000"/>
            </a:pPr>
            <a:r>
              <a:t>   ✅ Simples de implementar</a:t>
            </a:r>
          </a:p>
          <a:p>
            <a:pPr>
              <a:spcBef>
                <a:spcPts val="1000"/>
              </a:spcBef>
              <a:defRPr sz="2000"/>
            </a:pPr>
            <a:r>
              <a:t>   ❌ Muito lento no teste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💡 Insights Obtidos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1️⃣ Deep Learning funciona!</a:t>
            </a:r>
          </a:p>
          <a:p>
            <a:pPr>
              <a:spcBef>
                <a:spcPts val="1000"/>
              </a:spcBef>
              <a:defRPr sz="2000"/>
            </a:pPr>
            <a:r>
              <a:t>   • MLP superou todos os modelos clássicos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2️⃣ Simplicidade pode ser melhor</a:t>
            </a:r>
          </a:p>
          <a:p>
            <a:pPr>
              <a:spcBef>
                <a:spcPts val="1000"/>
              </a:spcBef>
              <a:defRPr sz="2000"/>
            </a:pPr>
            <a:r>
              <a:t>   • Naive Bayes: simples, rápido e eficaz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3️⃣ KNN tem limitações de escala</a:t>
            </a:r>
          </a:p>
          <a:p>
            <a:pPr>
              <a:spcBef>
                <a:spcPts val="1000"/>
              </a:spcBef>
              <a:defRPr sz="2000"/>
            </a:pPr>
            <a:r>
              <a:t>   • Impraticável para produção em larga escala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4️⃣ Perceptron é limitado</a:t>
            </a:r>
          </a:p>
          <a:p>
            <a:pPr>
              <a:spcBef>
                <a:spcPts val="1000"/>
              </a:spcBef>
              <a:defRPr sz="2000"/>
            </a:pPr>
            <a:r>
              <a:t>   • Problema não é linearmente separável</a:t>
            </a:r>
          </a:p>
          <a:p>
            <a:pPr>
              <a:spcBef>
                <a:spcPts val="1000"/>
              </a:spcBef>
              <a:defRPr sz="2000"/>
            </a:pPr>
            <a:r>
              <a:t>   • MLP essencial para melhor desempenho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✅ Requisitos Atendidos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✅ Dataset com &gt;10 atributos (28 features)</a:t>
            </a:r>
          </a:p>
          <a:p>
            <a:pPr>
              <a:spcBef>
                <a:spcPts val="1000"/>
              </a:spcBef>
              <a:defRPr sz="2000"/>
            </a:pPr>
            <a:r>
              <a:t>✅ Dataset com &gt;1000 instâncias (5,000 samples)</a:t>
            </a:r>
          </a:p>
          <a:p>
            <a:pPr>
              <a:spcBef>
                <a:spcPts val="1000"/>
              </a:spcBef>
              <a:defRPr sz="2000"/>
            </a:pPr>
            <a:r>
              <a:t>✅ KNN (Euclidiana + Manhattan)</a:t>
            </a:r>
          </a:p>
          <a:p>
            <a:pPr>
              <a:spcBef>
                <a:spcPts val="1000"/>
              </a:spcBef>
              <a:defRPr sz="2000"/>
            </a:pPr>
            <a:r>
              <a:t>✅ Perceptron implementado</a:t>
            </a:r>
          </a:p>
          <a:p>
            <a:pPr>
              <a:spcBef>
                <a:spcPts val="1000"/>
              </a:spcBef>
              <a:defRPr sz="2000"/>
            </a:pPr>
            <a:r>
              <a:t>✅ MLP com backpropagation manual</a:t>
            </a:r>
          </a:p>
          <a:p>
            <a:pPr>
              <a:spcBef>
                <a:spcPts val="1000"/>
              </a:spcBef>
              <a:defRPr sz="2000"/>
            </a:pPr>
            <a:r>
              <a:t>✅ Naive Bayes (Univariado + Multivariado)</a:t>
            </a:r>
          </a:p>
          <a:p>
            <a:pPr>
              <a:spcBef>
                <a:spcPts val="1000"/>
              </a:spcBef>
              <a:defRPr sz="2000"/>
            </a:pPr>
            <a:r>
              <a:t>✅ SEM pandas</a:t>
            </a:r>
          </a:p>
          <a:p>
            <a:pPr>
              <a:spcBef>
                <a:spcPts val="1000"/>
              </a:spcBef>
              <a:defRPr sz="2000"/>
            </a:pPr>
            <a:r>
              <a:t>✅ SEM scikit-learn</a:t>
            </a:r>
          </a:p>
          <a:p>
            <a:pPr>
              <a:spcBef>
                <a:spcPts val="1000"/>
              </a:spcBef>
              <a:defRPr sz="2000"/>
            </a:pPr>
            <a:r>
              <a:t>✅ Validação cruzada manual</a:t>
            </a:r>
          </a:p>
          <a:p>
            <a:pPr>
              <a:spcBef>
                <a:spcPts val="1000"/>
              </a:spcBef>
              <a:defRPr sz="2000"/>
            </a:pPr>
            <a:r>
              <a:t>✅ Código fonte completo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🌟 Extras Implementados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Além dos requisitos: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✨ GitHub Actions (CI/CD automático)</a:t>
            </a:r>
          </a:p>
          <a:p>
            <a:pPr>
              <a:spcBef>
                <a:spcPts val="1000"/>
              </a:spcBef>
              <a:defRPr sz="2000"/>
            </a:pPr>
            <a:r>
              <a:t>☁️ Google Colab (notebook interativo)</a:t>
            </a:r>
          </a:p>
          <a:p>
            <a:pPr>
              <a:spcBef>
                <a:spcPts val="1000"/>
              </a:spcBef>
              <a:defRPr sz="2000"/>
            </a:pPr>
            <a:r>
              <a:t>🚀 Deploy AWS Lambda (Free Tier)</a:t>
            </a:r>
          </a:p>
          <a:p>
            <a:pPr>
              <a:spcBef>
                <a:spcPts val="1000"/>
              </a:spcBef>
              <a:defRPr sz="2000"/>
            </a:pPr>
            <a:r>
              <a:t>📊 Visualizações automáticas</a:t>
            </a:r>
          </a:p>
          <a:p>
            <a:pPr>
              <a:spcBef>
                <a:spcPts val="1000"/>
              </a:spcBef>
              <a:defRPr sz="2000"/>
            </a:pPr>
            <a:r>
              <a:t>📚 Documentação completa</a:t>
            </a:r>
          </a:p>
          <a:p>
            <a:pPr>
              <a:spcBef>
                <a:spcPts val="1000"/>
              </a:spcBef>
              <a:defRPr sz="2000"/>
            </a:pPr>
            <a:r>
              <a:t>🔗 Integração Web ↔ Colab</a:t>
            </a:r>
          </a:p>
          <a:p>
            <a:pPr>
              <a:spcBef>
                <a:spcPts val="1000"/>
              </a:spcBef>
              <a:defRPr sz="2000"/>
            </a:pPr>
            <a:r>
              <a:t>📈 Gráficos comparativos</a:t>
            </a:r>
          </a:p>
          <a:p>
            <a:pPr>
              <a:spcBef>
                <a:spcPts val="1000"/>
              </a:spcBef>
              <a:defRPr sz="2000"/>
            </a:pPr>
            <a:r>
              <a:t>💾 Exportação em múltiplos formatos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🛠️ 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Permitidas:</a:t>
            </a:r>
          </a:p>
          <a:p>
            <a:pPr>
              <a:spcBef>
                <a:spcPts val="1000"/>
              </a:spcBef>
              <a:defRPr sz="2000"/>
            </a:pPr>
            <a:r>
              <a:t>   • Python 3.10</a:t>
            </a:r>
          </a:p>
          <a:p>
            <a:pPr>
              <a:spcBef>
                <a:spcPts val="1000"/>
              </a:spcBef>
              <a:defRPr sz="2000"/>
            </a:pPr>
            <a:r>
              <a:t>   • NumPy (apenas para arrays)</a:t>
            </a:r>
          </a:p>
          <a:p>
            <a:pPr>
              <a:spcBef>
                <a:spcPts val="1000"/>
              </a:spcBef>
              <a:defRPr sz="2000"/>
            </a:pPr>
            <a:r>
              <a:t>   • Matplotlib (apenas visualização)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Implementado Manualmente:</a:t>
            </a:r>
          </a:p>
          <a:p>
            <a:pPr>
              <a:spcBef>
                <a:spcPts val="1000"/>
              </a:spcBef>
              <a:defRPr sz="2000"/>
            </a:pPr>
            <a:r>
              <a:t>   • Todos os algoritmos de ML</a:t>
            </a:r>
          </a:p>
          <a:p>
            <a:pPr>
              <a:spcBef>
                <a:spcPts val="1000"/>
              </a:spcBef>
              <a:defRPr sz="2000"/>
            </a:pPr>
            <a:r>
              <a:t>   • Carregamento de CSV</a:t>
            </a:r>
          </a:p>
          <a:p>
            <a:pPr>
              <a:spcBef>
                <a:spcPts val="1000"/>
              </a:spcBef>
              <a:defRPr sz="2000"/>
            </a:pPr>
            <a:r>
              <a:t>   • Normalização</a:t>
            </a:r>
          </a:p>
          <a:p>
            <a:pPr>
              <a:spcBef>
                <a:spcPts val="1000"/>
              </a:spcBef>
              <a:defRPr sz="2000"/>
            </a:pPr>
            <a:r>
              <a:t>   • Validação cruzada</a:t>
            </a:r>
          </a:p>
          <a:p>
            <a:pPr>
              <a:spcBef>
                <a:spcPts val="1000"/>
              </a:spcBef>
              <a:defRPr sz="2000"/>
            </a:pPr>
            <a:r>
              <a:t>   • Todas as métricas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🎬 Demonstração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Onde testar: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1️⃣ Localmente:</a:t>
            </a:r>
          </a:p>
          <a:p>
            <a:pPr>
              <a:spcBef>
                <a:spcPts val="1000"/>
              </a:spcBef>
              <a:defRPr sz="2000"/>
            </a:pPr>
            <a:r>
              <a:t>   cd projeto_ia_av3</a:t>
            </a:r>
          </a:p>
          <a:p>
            <a:pPr>
              <a:spcBef>
                <a:spcPts val="1000"/>
              </a:spcBef>
              <a:defRPr sz="2000"/>
            </a:pPr>
            <a:r>
              <a:t>   python src/main.py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2️⃣ Google Colab:</a:t>
            </a:r>
          </a:p>
          <a:p>
            <a:pPr>
              <a:spcBef>
                <a:spcPts val="1000"/>
              </a:spcBef>
              <a:defRPr sz="2000"/>
            </a:pPr>
            <a:r>
              <a:t>   Notebook interativo com todos experimentos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3️⃣ AWS Lambda:</a:t>
            </a:r>
          </a:p>
          <a:p>
            <a:pPr>
              <a:spcBef>
                <a:spcPts val="1000"/>
              </a:spcBef>
              <a:defRPr sz="2000"/>
            </a:pPr>
            <a:r>
              <a:t>   API serverless para predições em tempo real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4️⃣ GitHub Actions:</a:t>
            </a:r>
          </a:p>
          <a:p>
            <a:pPr>
              <a:spcBef>
                <a:spcPts val="1000"/>
              </a:spcBef>
              <a:defRPr sz="2000"/>
            </a:pPr>
            <a:r>
              <a:t>   CI/CD automático a cada push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33"/>
                </a:solidFill>
              </a:defRPr>
            </a:pPr>
            <a:r>
              <a:t>🎯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✅ Todos os algoritmos implementados com sucesso</a:t>
            </a:r>
          </a:p>
          <a:p>
            <a:pPr>
              <a:spcBef>
                <a:spcPts val="1000"/>
              </a:spcBef>
              <a:defRPr sz="2000"/>
            </a:pPr>
            <a:r>
              <a:t>✅ MLP: melhor performance (92.52%)</a:t>
            </a:r>
          </a:p>
          <a:p>
            <a:pPr>
              <a:spcBef>
                <a:spcPts val="1000"/>
              </a:spcBef>
              <a:defRPr sz="2000"/>
            </a:pPr>
            <a:r>
              <a:t>✅ Naive Bayes: melhor eficiência</a:t>
            </a:r>
          </a:p>
          <a:p>
            <a:pPr>
              <a:spcBef>
                <a:spcPts val="1000"/>
              </a:spcBef>
              <a:defRPr sz="2000"/>
            </a:pPr>
            <a:r>
              <a:t>✅ Validação robusta com K-Fold</a:t>
            </a:r>
          </a:p>
          <a:p>
            <a:pPr>
              <a:spcBef>
                <a:spcPts val="1000"/>
              </a:spcBef>
              <a:defRPr sz="2000"/>
            </a:pPr>
            <a:r>
              <a:t>✅ Código 100% original e documentado</a:t>
            </a:r>
          </a:p>
          <a:p>
            <a:pPr>
              <a:spcBef>
                <a:spcPts val="1000"/>
              </a:spcBef>
              <a:defRPr sz="2000"/>
            </a:pPr>
            <a:r>
              <a:t>✅ Infraestrutura profissional (CI/CD)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solidFill>
            <a:srgbClr val="006633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🏆 Projeto Concluído com Excelência!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🚀 Aplicações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Para Produção:</a:t>
            </a:r>
          </a:p>
          <a:p>
            <a:pPr>
              <a:spcBef>
                <a:spcPts val="1000"/>
              </a:spcBef>
              <a:defRPr sz="2000"/>
            </a:pPr>
            <a:r>
              <a:t>   • Naive Bayes para sistemas em tempo real</a:t>
            </a:r>
          </a:p>
          <a:p>
            <a:pPr>
              <a:spcBef>
                <a:spcPts val="1000"/>
              </a:spcBef>
              <a:defRPr sz="2000"/>
            </a:pPr>
            <a:r>
              <a:t>   • MLP quando precisão é crítica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Melhorias Possíveis:</a:t>
            </a:r>
          </a:p>
          <a:p>
            <a:pPr>
              <a:spcBef>
                <a:spcPts val="1000"/>
              </a:spcBef>
              <a:defRPr sz="2000"/>
            </a:pPr>
            <a:r>
              <a:t>   • Testar com dataset completo (19,735 amostras)</a:t>
            </a:r>
          </a:p>
          <a:p>
            <a:pPr>
              <a:spcBef>
                <a:spcPts val="1000"/>
              </a:spcBef>
              <a:defRPr sz="2000"/>
            </a:pPr>
            <a:r>
              <a:t>   • Ajustar hiperparâmetros</a:t>
            </a:r>
          </a:p>
          <a:p>
            <a:pPr>
              <a:spcBef>
                <a:spcPts val="1000"/>
              </a:spcBef>
              <a:defRPr sz="2000"/>
            </a:pPr>
            <a:r>
              <a:t>   • Implementar ensemble methods</a:t>
            </a:r>
          </a:p>
          <a:p>
            <a:pPr>
              <a:spcBef>
                <a:spcPts val="1000"/>
              </a:spcBef>
              <a:defRPr sz="2000"/>
            </a:pPr>
            <a:r>
              <a:t>   • Otimização de features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Integração:</a:t>
            </a:r>
          </a:p>
          <a:p>
            <a:pPr>
              <a:spcBef>
                <a:spcPts val="1000"/>
              </a:spcBef>
              <a:defRPr sz="2000"/>
            </a:pPr>
            <a:r>
              <a:t>   • Aplicação web React</a:t>
            </a:r>
          </a:p>
          <a:p>
            <a:pPr>
              <a:spcBef>
                <a:spcPts val="1000"/>
              </a:spcBef>
              <a:defRPr sz="2000"/>
            </a:pPr>
            <a:r>
              <a:t>   • Mobile app</a:t>
            </a:r>
          </a:p>
          <a:p>
            <a:pPr>
              <a:spcBef>
                <a:spcPts val="1000"/>
              </a:spcBef>
              <a:defRPr sz="2000"/>
            </a:pPr>
            <a:r>
              <a:t>   • Dashboard de monitoramento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🙏 Agradecimentos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/>
            </a:pPr>
            <a:r>
              <a:t>Prof. Ms. Cynthia Moreira Maia</a:t>
            </a:r>
          </a:p>
          <a:p>
            <a:pPr>
              <a:spcBef>
                <a:spcPts val="1000"/>
              </a:spcBef>
              <a:defRPr sz="2000"/>
            </a:pPr>
            <a:r>
              <a:t>   • Orientação na disciplina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Karen Moura Fernandes</a:t>
            </a:r>
          </a:p>
          <a:p>
            <a:pPr>
              <a:spcBef>
                <a:spcPts val="1000"/>
              </a:spcBef>
              <a:defRPr sz="2000"/>
            </a:pPr>
            <a:r>
              <a:t>   • Pesquisadora colaboradora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Prof. Paulo Henrique Pereira Silva</a:t>
            </a:r>
          </a:p>
          <a:p>
            <a:pPr>
              <a:spcBef>
                <a:spcPts val="1000"/>
              </a:spcBef>
              <a:defRPr sz="2000"/>
            </a:pPr>
            <a:r>
              <a:t>   • Orientação acadêmica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OpenML</a:t>
            </a:r>
          </a:p>
          <a:p>
            <a:pPr>
              <a:spcBef>
                <a:spcPts val="1000"/>
              </a:spcBef>
              <a:defRPr sz="2000"/>
            </a:pPr>
            <a:r>
              <a:t>   • Disponibilização do dataset</a:t>
            </a:r>
          </a:p>
          <a:p>
            <a:pPr>
              <a:spcBef>
                <a:spcPts val="1000"/>
              </a:spcBef>
              <a:defRPr sz="2000"/>
            </a:pPr>
          </a:p>
          <a:p>
            <a:pPr>
              <a:spcBef>
                <a:spcPts val="1000"/>
              </a:spcBef>
              <a:defRPr sz="2000"/>
            </a:pPr>
            <a:r>
              <a:t>Comunidade Open Source</a:t>
            </a:r>
          </a:p>
          <a:p>
            <a:pPr>
              <a:spcBef>
                <a:spcPts val="1000"/>
              </a:spcBef>
              <a:defRPr sz="2000"/>
            </a:pPr>
            <a:r>
              <a:t>   • Inspiração e referências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❓ Perguntas?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Estou à disposição para esclarecer dúvidas!</a:t>
            </a:r>
          </a:p>
          <a:p/>
          <a:p>
            <a:r>
              <a:t>Mateus Gomes Macário</a:t>
            </a:r>
          </a:p>
          <a:p>
            <a:r>
              <a:t>Engenharia da Computação - UNIFOR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